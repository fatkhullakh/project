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3" r:id="rId1"/>
  </p:sldMasterIdLst>
  <p:sldIdLst>
    <p:sldId id="256" r:id="rId2"/>
    <p:sldId id="257" r:id="rId3"/>
    <p:sldId id="258" r:id="rId4"/>
    <p:sldId id="262" r:id="rId5"/>
    <p:sldId id="263" r:id="rId6"/>
    <p:sldId id="264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A11109-148A-B53F-07F0-C07D0AEAA294}" v="10" dt="2025-10-26T13:58:52.4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AE5B11-CA54-4723-9613-E905F985E8F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97CC265-64E8-4672-9E8A-C941BF5E3EA4}">
      <dgm:prSet/>
      <dgm:spPr/>
      <dgm:t>
        <a:bodyPr/>
        <a:lstStyle/>
        <a:p>
          <a:r>
            <a:rPr lang="en-US"/>
            <a:t>No-shows cause financial loss and scheduling inefficiency.</a:t>
          </a:r>
        </a:p>
      </dgm:t>
    </dgm:pt>
    <dgm:pt modelId="{11CA0855-D35E-43DB-91DE-3ABA600528C4}" type="parTrans" cxnId="{6E0DFE24-D2F3-4929-9197-68A67722BC56}">
      <dgm:prSet/>
      <dgm:spPr/>
      <dgm:t>
        <a:bodyPr/>
        <a:lstStyle/>
        <a:p>
          <a:endParaRPr lang="en-US"/>
        </a:p>
      </dgm:t>
    </dgm:pt>
    <dgm:pt modelId="{E7240156-D69E-423C-AD43-CA5DFC6A0408}" type="sibTrans" cxnId="{6E0DFE24-D2F3-4929-9197-68A67722BC56}">
      <dgm:prSet/>
      <dgm:spPr/>
      <dgm:t>
        <a:bodyPr/>
        <a:lstStyle/>
        <a:p>
          <a:endParaRPr lang="en-US"/>
        </a:p>
      </dgm:t>
    </dgm:pt>
    <dgm:pt modelId="{3F17600B-A9F2-416A-A915-4DA12790CE1A}">
      <dgm:prSet/>
      <dgm:spPr/>
      <dgm:t>
        <a:bodyPr/>
        <a:lstStyle/>
        <a:p>
          <a:r>
            <a:rPr lang="en-US"/>
            <a:t>Objective: predict whether a booked patient will attend their appointment.</a:t>
          </a:r>
        </a:p>
      </dgm:t>
    </dgm:pt>
    <dgm:pt modelId="{8FE2063E-852D-4414-9667-779A7EE1485B}" type="parTrans" cxnId="{476E2CDC-3D35-4A93-8B21-73C2527F10C6}">
      <dgm:prSet/>
      <dgm:spPr/>
      <dgm:t>
        <a:bodyPr/>
        <a:lstStyle/>
        <a:p>
          <a:endParaRPr lang="en-US"/>
        </a:p>
      </dgm:t>
    </dgm:pt>
    <dgm:pt modelId="{3BB7BC6B-8FD0-427D-9585-E3D3542AD442}" type="sibTrans" cxnId="{476E2CDC-3D35-4A93-8B21-73C2527F10C6}">
      <dgm:prSet/>
      <dgm:spPr/>
      <dgm:t>
        <a:bodyPr/>
        <a:lstStyle/>
        <a:p>
          <a:endParaRPr lang="en-US"/>
        </a:p>
      </dgm:t>
    </dgm:pt>
    <dgm:pt modelId="{DE63F615-4B0A-47E9-A72D-112A819EE9D5}">
      <dgm:prSet/>
      <dgm:spPr/>
      <dgm:t>
        <a:bodyPr/>
        <a:lstStyle/>
        <a:p>
          <a:r>
            <a:rPr lang="en-US"/>
            <a:t>Model output: probability ∈ [0, 1] → interpreted as risk of no-show.</a:t>
          </a:r>
        </a:p>
      </dgm:t>
    </dgm:pt>
    <dgm:pt modelId="{868771C8-D204-4C7C-8980-1D3816A43331}" type="parTrans" cxnId="{FF6C347A-A049-4722-BED3-204D70775CBE}">
      <dgm:prSet/>
      <dgm:spPr/>
      <dgm:t>
        <a:bodyPr/>
        <a:lstStyle/>
        <a:p>
          <a:endParaRPr lang="en-US"/>
        </a:p>
      </dgm:t>
    </dgm:pt>
    <dgm:pt modelId="{109D316B-C681-4A89-B4BA-6BE3DA37E997}" type="sibTrans" cxnId="{FF6C347A-A049-4722-BED3-204D70775CBE}">
      <dgm:prSet/>
      <dgm:spPr/>
      <dgm:t>
        <a:bodyPr/>
        <a:lstStyle/>
        <a:p>
          <a:endParaRPr lang="en-US"/>
        </a:p>
      </dgm:t>
    </dgm:pt>
    <dgm:pt modelId="{52E90E3D-83F2-4625-8B73-CA1EA81BA752}">
      <dgm:prSet/>
      <dgm:spPr/>
      <dgm:t>
        <a:bodyPr/>
        <a:lstStyle/>
        <a:p>
          <a:r>
            <a:rPr lang="en-US" b="1"/>
            <a:t>Goal metric:</a:t>
          </a:r>
          <a:r>
            <a:rPr lang="en-US"/>
            <a:t> maximize AUC-ROC and F1 score.</a:t>
          </a:r>
        </a:p>
      </dgm:t>
    </dgm:pt>
    <dgm:pt modelId="{5251992F-56FC-467F-AC95-9A51322877DD}" type="parTrans" cxnId="{BD77C221-C6BC-4285-ABFA-745AA941937B}">
      <dgm:prSet/>
      <dgm:spPr/>
      <dgm:t>
        <a:bodyPr/>
        <a:lstStyle/>
        <a:p>
          <a:endParaRPr lang="en-US"/>
        </a:p>
      </dgm:t>
    </dgm:pt>
    <dgm:pt modelId="{F4218F7B-E76A-4DE1-8CCB-61C6D8311F11}" type="sibTrans" cxnId="{BD77C221-C6BC-4285-ABFA-745AA941937B}">
      <dgm:prSet/>
      <dgm:spPr/>
      <dgm:t>
        <a:bodyPr/>
        <a:lstStyle/>
        <a:p>
          <a:endParaRPr lang="en-US"/>
        </a:p>
      </dgm:t>
    </dgm:pt>
    <dgm:pt modelId="{35BA007B-86BB-4A4A-915B-1CE8CCBE64B8}" type="pres">
      <dgm:prSet presAssocID="{F1AE5B11-CA54-4723-9613-E905F985E8F4}" presName="root" presStyleCnt="0">
        <dgm:presLayoutVars>
          <dgm:dir/>
          <dgm:resizeHandles val="exact"/>
        </dgm:presLayoutVars>
      </dgm:prSet>
      <dgm:spPr/>
    </dgm:pt>
    <dgm:pt modelId="{A866FA65-EB9B-4EB5-97AA-607CB99E8E7F}" type="pres">
      <dgm:prSet presAssocID="{797CC265-64E8-4672-9E8A-C941BF5E3EA4}" presName="compNode" presStyleCnt="0"/>
      <dgm:spPr/>
    </dgm:pt>
    <dgm:pt modelId="{925A386B-B8C0-4CC0-9BF5-2B5DD317E924}" type="pres">
      <dgm:prSet presAssocID="{797CC265-64E8-4672-9E8A-C941BF5E3EA4}" presName="bgRect" presStyleLbl="bgShp" presStyleIdx="0" presStyleCnt="4"/>
      <dgm:spPr/>
    </dgm:pt>
    <dgm:pt modelId="{CEF0CDBC-AEC9-43B9-AD92-A7528B313FFE}" type="pres">
      <dgm:prSet presAssocID="{797CC265-64E8-4672-9E8A-C941BF5E3EA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thly calendar"/>
        </a:ext>
      </dgm:extLst>
    </dgm:pt>
    <dgm:pt modelId="{8C758654-9027-4634-B933-FE470AC71645}" type="pres">
      <dgm:prSet presAssocID="{797CC265-64E8-4672-9E8A-C941BF5E3EA4}" presName="spaceRect" presStyleCnt="0"/>
      <dgm:spPr/>
    </dgm:pt>
    <dgm:pt modelId="{D9BBD06D-FA3B-4656-AA36-C908ACEAA7AB}" type="pres">
      <dgm:prSet presAssocID="{797CC265-64E8-4672-9E8A-C941BF5E3EA4}" presName="parTx" presStyleLbl="revTx" presStyleIdx="0" presStyleCnt="4">
        <dgm:presLayoutVars>
          <dgm:chMax val="0"/>
          <dgm:chPref val="0"/>
        </dgm:presLayoutVars>
      </dgm:prSet>
      <dgm:spPr/>
    </dgm:pt>
    <dgm:pt modelId="{770C8E96-EB26-4FF8-9B76-E11B01CF3FEE}" type="pres">
      <dgm:prSet presAssocID="{E7240156-D69E-423C-AD43-CA5DFC6A0408}" presName="sibTrans" presStyleCnt="0"/>
      <dgm:spPr/>
    </dgm:pt>
    <dgm:pt modelId="{29A23D89-7279-46DC-BDED-5BF30E96EDFC}" type="pres">
      <dgm:prSet presAssocID="{3F17600B-A9F2-416A-A915-4DA12790CE1A}" presName="compNode" presStyleCnt="0"/>
      <dgm:spPr/>
    </dgm:pt>
    <dgm:pt modelId="{CFCF0770-B695-43F1-933F-66C93B0069AB}" type="pres">
      <dgm:prSet presAssocID="{3F17600B-A9F2-416A-A915-4DA12790CE1A}" presName="bgRect" presStyleLbl="bgShp" presStyleIdx="1" presStyleCnt="4"/>
      <dgm:spPr/>
    </dgm:pt>
    <dgm:pt modelId="{0E33B027-4A51-4BB3-9B2A-4A6CCBA51402}" type="pres">
      <dgm:prSet presAssocID="{3F17600B-A9F2-416A-A915-4DA12790CE1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aduation Cap"/>
        </a:ext>
      </dgm:extLst>
    </dgm:pt>
    <dgm:pt modelId="{746391B6-4532-4471-8428-6EB1F2D70478}" type="pres">
      <dgm:prSet presAssocID="{3F17600B-A9F2-416A-A915-4DA12790CE1A}" presName="spaceRect" presStyleCnt="0"/>
      <dgm:spPr/>
    </dgm:pt>
    <dgm:pt modelId="{45F7697F-5A31-4D76-83C9-5753D022CCB1}" type="pres">
      <dgm:prSet presAssocID="{3F17600B-A9F2-416A-A915-4DA12790CE1A}" presName="parTx" presStyleLbl="revTx" presStyleIdx="1" presStyleCnt="4">
        <dgm:presLayoutVars>
          <dgm:chMax val="0"/>
          <dgm:chPref val="0"/>
        </dgm:presLayoutVars>
      </dgm:prSet>
      <dgm:spPr/>
    </dgm:pt>
    <dgm:pt modelId="{6F0FAB72-0835-4386-B44F-99B0E1899DC3}" type="pres">
      <dgm:prSet presAssocID="{3BB7BC6B-8FD0-427D-9585-E3D3542AD442}" presName="sibTrans" presStyleCnt="0"/>
      <dgm:spPr/>
    </dgm:pt>
    <dgm:pt modelId="{B6D927BC-F50D-4DF8-9E19-1368A38EC388}" type="pres">
      <dgm:prSet presAssocID="{DE63F615-4B0A-47E9-A72D-112A819EE9D5}" presName="compNode" presStyleCnt="0"/>
      <dgm:spPr/>
    </dgm:pt>
    <dgm:pt modelId="{5077C9A1-794F-474F-AEFD-2B22D9C2B408}" type="pres">
      <dgm:prSet presAssocID="{DE63F615-4B0A-47E9-A72D-112A819EE9D5}" presName="bgRect" presStyleLbl="bgShp" presStyleIdx="2" presStyleCnt="4"/>
      <dgm:spPr/>
    </dgm:pt>
    <dgm:pt modelId="{ADD8DF96-55F4-41CF-BD94-5105C7AE8191}" type="pres">
      <dgm:prSet presAssocID="{DE63F615-4B0A-47E9-A72D-112A819EE9D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7C6328B8-39E2-454C-9E6C-E667EF0BCE5F}" type="pres">
      <dgm:prSet presAssocID="{DE63F615-4B0A-47E9-A72D-112A819EE9D5}" presName="spaceRect" presStyleCnt="0"/>
      <dgm:spPr/>
    </dgm:pt>
    <dgm:pt modelId="{B45EF91F-3778-4ABA-A5F1-E90479AEA13C}" type="pres">
      <dgm:prSet presAssocID="{DE63F615-4B0A-47E9-A72D-112A819EE9D5}" presName="parTx" presStyleLbl="revTx" presStyleIdx="2" presStyleCnt="4">
        <dgm:presLayoutVars>
          <dgm:chMax val="0"/>
          <dgm:chPref val="0"/>
        </dgm:presLayoutVars>
      </dgm:prSet>
      <dgm:spPr/>
    </dgm:pt>
    <dgm:pt modelId="{EB6968CD-CFA8-4B99-8899-8EBAF4913D34}" type="pres">
      <dgm:prSet presAssocID="{109D316B-C681-4A89-B4BA-6BE3DA37E997}" presName="sibTrans" presStyleCnt="0"/>
      <dgm:spPr/>
    </dgm:pt>
    <dgm:pt modelId="{72779557-1AB9-4906-96FA-D111059E12B5}" type="pres">
      <dgm:prSet presAssocID="{52E90E3D-83F2-4625-8B73-CA1EA81BA752}" presName="compNode" presStyleCnt="0"/>
      <dgm:spPr/>
    </dgm:pt>
    <dgm:pt modelId="{F1054725-9840-4BE0-B949-F419B0829485}" type="pres">
      <dgm:prSet presAssocID="{52E90E3D-83F2-4625-8B73-CA1EA81BA752}" presName="bgRect" presStyleLbl="bgShp" presStyleIdx="3" presStyleCnt="4"/>
      <dgm:spPr/>
    </dgm:pt>
    <dgm:pt modelId="{DFE3D55A-BB32-4352-BD60-9160E6F96BE3}" type="pres">
      <dgm:prSet presAssocID="{52E90E3D-83F2-4625-8B73-CA1EA81BA75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B420444D-655F-4A20-B4D7-DBCC1DA57B58}" type="pres">
      <dgm:prSet presAssocID="{52E90E3D-83F2-4625-8B73-CA1EA81BA752}" presName="spaceRect" presStyleCnt="0"/>
      <dgm:spPr/>
    </dgm:pt>
    <dgm:pt modelId="{E784AAA5-F8E8-4074-A81F-E71645A51051}" type="pres">
      <dgm:prSet presAssocID="{52E90E3D-83F2-4625-8B73-CA1EA81BA75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6E1550D-652A-4CDB-AE17-F3D38A4B34D6}" type="presOf" srcId="{3F17600B-A9F2-416A-A915-4DA12790CE1A}" destId="{45F7697F-5A31-4D76-83C9-5753D022CCB1}" srcOrd="0" destOrd="0" presId="urn:microsoft.com/office/officeart/2018/2/layout/IconVerticalSolidList"/>
    <dgm:cxn modelId="{373D7614-68CD-429D-A25F-06C3D6B681B1}" type="presOf" srcId="{DE63F615-4B0A-47E9-A72D-112A819EE9D5}" destId="{B45EF91F-3778-4ABA-A5F1-E90479AEA13C}" srcOrd="0" destOrd="0" presId="urn:microsoft.com/office/officeart/2018/2/layout/IconVerticalSolidList"/>
    <dgm:cxn modelId="{BD77C221-C6BC-4285-ABFA-745AA941937B}" srcId="{F1AE5B11-CA54-4723-9613-E905F985E8F4}" destId="{52E90E3D-83F2-4625-8B73-CA1EA81BA752}" srcOrd="3" destOrd="0" parTransId="{5251992F-56FC-467F-AC95-9A51322877DD}" sibTransId="{F4218F7B-E76A-4DE1-8CCB-61C6D8311F11}"/>
    <dgm:cxn modelId="{6E0DFE24-D2F3-4929-9197-68A67722BC56}" srcId="{F1AE5B11-CA54-4723-9613-E905F985E8F4}" destId="{797CC265-64E8-4672-9E8A-C941BF5E3EA4}" srcOrd="0" destOrd="0" parTransId="{11CA0855-D35E-43DB-91DE-3ABA600528C4}" sibTransId="{E7240156-D69E-423C-AD43-CA5DFC6A0408}"/>
    <dgm:cxn modelId="{6E9CBE27-BD07-449A-A1CB-FE3C2D2D599A}" type="presOf" srcId="{797CC265-64E8-4672-9E8A-C941BF5E3EA4}" destId="{D9BBD06D-FA3B-4656-AA36-C908ACEAA7AB}" srcOrd="0" destOrd="0" presId="urn:microsoft.com/office/officeart/2018/2/layout/IconVerticalSolidList"/>
    <dgm:cxn modelId="{FF6C347A-A049-4722-BED3-204D70775CBE}" srcId="{F1AE5B11-CA54-4723-9613-E905F985E8F4}" destId="{DE63F615-4B0A-47E9-A72D-112A819EE9D5}" srcOrd="2" destOrd="0" parTransId="{868771C8-D204-4C7C-8980-1D3816A43331}" sibTransId="{109D316B-C681-4A89-B4BA-6BE3DA37E997}"/>
    <dgm:cxn modelId="{F01992AC-76C4-402D-92B7-7E9582BAF4FA}" type="presOf" srcId="{F1AE5B11-CA54-4723-9613-E905F985E8F4}" destId="{35BA007B-86BB-4A4A-915B-1CE8CCBE64B8}" srcOrd="0" destOrd="0" presId="urn:microsoft.com/office/officeart/2018/2/layout/IconVerticalSolidList"/>
    <dgm:cxn modelId="{508BDDD3-5BE7-4839-AFF1-BC7443F6B9EA}" type="presOf" srcId="{52E90E3D-83F2-4625-8B73-CA1EA81BA752}" destId="{E784AAA5-F8E8-4074-A81F-E71645A51051}" srcOrd="0" destOrd="0" presId="urn:microsoft.com/office/officeart/2018/2/layout/IconVerticalSolidList"/>
    <dgm:cxn modelId="{476E2CDC-3D35-4A93-8B21-73C2527F10C6}" srcId="{F1AE5B11-CA54-4723-9613-E905F985E8F4}" destId="{3F17600B-A9F2-416A-A915-4DA12790CE1A}" srcOrd="1" destOrd="0" parTransId="{8FE2063E-852D-4414-9667-779A7EE1485B}" sibTransId="{3BB7BC6B-8FD0-427D-9585-E3D3542AD442}"/>
    <dgm:cxn modelId="{B744DDB1-7B18-4375-A38A-6D34792F91C0}" type="presParOf" srcId="{35BA007B-86BB-4A4A-915B-1CE8CCBE64B8}" destId="{A866FA65-EB9B-4EB5-97AA-607CB99E8E7F}" srcOrd="0" destOrd="0" presId="urn:microsoft.com/office/officeart/2018/2/layout/IconVerticalSolidList"/>
    <dgm:cxn modelId="{23C8ED2D-63BE-40F0-8B61-E18E195A67EE}" type="presParOf" srcId="{A866FA65-EB9B-4EB5-97AA-607CB99E8E7F}" destId="{925A386B-B8C0-4CC0-9BF5-2B5DD317E924}" srcOrd="0" destOrd="0" presId="urn:microsoft.com/office/officeart/2018/2/layout/IconVerticalSolidList"/>
    <dgm:cxn modelId="{89717402-8DF9-4BBA-A037-D18D53F5613E}" type="presParOf" srcId="{A866FA65-EB9B-4EB5-97AA-607CB99E8E7F}" destId="{CEF0CDBC-AEC9-43B9-AD92-A7528B313FFE}" srcOrd="1" destOrd="0" presId="urn:microsoft.com/office/officeart/2018/2/layout/IconVerticalSolidList"/>
    <dgm:cxn modelId="{1D2F244E-4F3D-4F43-94E7-035E96A01207}" type="presParOf" srcId="{A866FA65-EB9B-4EB5-97AA-607CB99E8E7F}" destId="{8C758654-9027-4634-B933-FE470AC71645}" srcOrd="2" destOrd="0" presId="urn:microsoft.com/office/officeart/2018/2/layout/IconVerticalSolidList"/>
    <dgm:cxn modelId="{5849AFFB-9C43-4409-A8ED-D02476B4DAF4}" type="presParOf" srcId="{A866FA65-EB9B-4EB5-97AA-607CB99E8E7F}" destId="{D9BBD06D-FA3B-4656-AA36-C908ACEAA7AB}" srcOrd="3" destOrd="0" presId="urn:microsoft.com/office/officeart/2018/2/layout/IconVerticalSolidList"/>
    <dgm:cxn modelId="{1EBB5225-9996-4F6E-8599-5F75A95B1455}" type="presParOf" srcId="{35BA007B-86BB-4A4A-915B-1CE8CCBE64B8}" destId="{770C8E96-EB26-4FF8-9B76-E11B01CF3FEE}" srcOrd="1" destOrd="0" presId="urn:microsoft.com/office/officeart/2018/2/layout/IconVerticalSolidList"/>
    <dgm:cxn modelId="{C48DC9B6-5690-44BE-92DA-118F50938E15}" type="presParOf" srcId="{35BA007B-86BB-4A4A-915B-1CE8CCBE64B8}" destId="{29A23D89-7279-46DC-BDED-5BF30E96EDFC}" srcOrd="2" destOrd="0" presId="urn:microsoft.com/office/officeart/2018/2/layout/IconVerticalSolidList"/>
    <dgm:cxn modelId="{DE3F957C-74E0-4FC9-99F4-239F790255D5}" type="presParOf" srcId="{29A23D89-7279-46DC-BDED-5BF30E96EDFC}" destId="{CFCF0770-B695-43F1-933F-66C93B0069AB}" srcOrd="0" destOrd="0" presId="urn:microsoft.com/office/officeart/2018/2/layout/IconVerticalSolidList"/>
    <dgm:cxn modelId="{AA0CAEE1-E765-4EFB-A4A6-351AE3D579C6}" type="presParOf" srcId="{29A23D89-7279-46DC-BDED-5BF30E96EDFC}" destId="{0E33B027-4A51-4BB3-9B2A-4A6CCBA51402}" srcOrd="1" destOrd="0" presId="urn:microsoft.com/office/officeart/2018/2/layout/IconVerticalSolidList"/>
    <dgm:cxn modelId="{4372754E-E005-405E-8A23-52BD97F7E798}" type="presParOf" srcId="{29A23D89-7279-46DC-BDED-5BF30E96EDFC}" destId="{746391B6-4532-4471-8428-6EB1F2D70478}" srcOrd="2" destOrd="0" presId="urn:microsoft.com/office/officeart/2018/2/layout/IconVerticalSolidList"/>
    <dgm:cxn modelId="{668432F0-9F3C-463C-854C-A25392FBA974}" type="presParOf" srcId="{29A23D89-7279-46DC-BDED-5BF30E96EDFC}" destId="{45F7697F-5A31-4D76-83C9-5753D022CCB1}" srcOrd="3" destOrd="0" presId="urn:microsoft.com/office/officeart/2018/2/layout/IconVerticalSolidList"/>
    <dgm:cxn modelId="{BF2780DA-5387-4E2D-B144-7116C2276422}" type="presParOf" srcId="{35BA007B-86BB-4A4A-915B-1CE8CCBE64B8}" destId="{6F0FAB72-0835-4386-B44F-99B0E1899DC3}" srcOrd="3" destOrd="0" presId="urn:microsoft.com/office/officeart/2018/2/layout/IconVerticalSolidList"/>
    <dgm:cxn modelId="{52DDDA52-4B4B-4406-BFF9-190A83097B36}" type="presParOf" srcId="{35BA007B-86BB-4A4A-915B-1CE8CCBE64B8}" destId="{B6D927BC-F50D-4DF8-9E19-1368A38EC388}" srcOrd="4" destOrd="0" presId="urn:microsoft.com/office/officeart/2018/2/layout/IconVerticalSolidList"/>
    <dgm:cxn modelId="{75DC8A2E-1D60-4C9B-A48D-D3A1A2C79C6E}" type="presParOf" srcId="{B6D927BC-F50D-4DF8-9E19-1368A38EC388}" destId="{5077C9A1-794F-474F-AEFD-2B22D9C2B408}" srcOrd="0" destOrd="0" presId="urn:microsoft.com/office/officeart/2018/2/layout/IconVerticalSolidList"/>
    <dgm:cxn modelId="{B1A4FC9A-F0CA-48FC-8750-1C0A23DF0636}" type="presParOf" srcId="{B6D927BC-F50D-4DF8-9E19-1368A38EC388}" destId="{ADD8DF96-55F4-41CF-BD94-5105C7AE8191}" srcOrd="1" destOrd="0" presId="urn:microsoft.com/office/officeart/2018/2/layout/IconVerticalSolidList"/>
    <dgm:cxn modelId="{DC78D7E7-3F54-406D-9670-CC2EB5057C8D}" type="presParOf" srcId="{B6D927BC-F50D-4DF8-9E19-1368A38EC388}" destId="{7C6328B8-39E2-454C-9E6C-E667EF0BCE5F}" srcOrd="2" destOrd="0" presId="urn:microsoft.com/office/officeart/2018/2/layout/IconVerticalSolidList"/>
    <dgm:cxn modelId="{9A0FE758-2210-4C8C-9339-29703E624DE8}" type="presParOf" srcId="{B6D927BC-F50D-4DF8-9E19-1368A38EC388}" destId="{B45EF91F-3778-4ABA-A5F1-E90479AEA13C}" srcOrd="3" destOrd="0" presId="urn:microsoft.com/office/officeart/2018/2/layout/IconVerticalSolidList"/>
    <dgm:cxn modelId="{6B843054-B9F0-4309-AEF0-CD81E4C1B2CC}" type="presParOf" srcId="{35BA007B-86BB-4A4A-915B-1CE8CCBE64B8}" destId="{EB6968CD-CFA8-4B99-8899-8EBAF4913D34}" srcOrd="5" destOrd="0" presId="urn:microsoft.com/office/officeart/2018/2/layout/IconVerticalSolidList"/>
    <dgm:cxn modelId="{832AAB14-3C36-4499-9C71-A40853E75CF2}" type="presParOf" srcId="{35BA007B-86BB-4A4A-915B-1CE8CCBE64B8}" destId="{72779557-1AB9-4906-96FA-D111059E12B5}" srcOrd="6" destOrd="0" presId="urn:microsoft.com/office/officeart/2018/2/layout/IconVerticalSolidList"/>
    <dgm:cxn modelId="{BB5CFE7A-2A9F-425F-9D1A-D2DA23B33413}" type="presParOf" srcId="{72779557-1AB9-4906-96FA-D111059E12B5}" destId="{F1054725-9840-4BE0-B949-F419B0829485}" srcOrd="0" destOrd="0" presId="urn:microsoft.com/office/officeart/2018/2/layout/IconVerticalSolidList"/>
    <dgm:cxn modelId="{C358EA18-973F-42D7-AFC3-0BAE8DB24CC3}" type="presParOf" srcId="{72779557-1AB9-4906-96FA-D111059E12B5}" destId="{DFE3D55A-BB32-4352-BD60-9160E6F96BE3}" srcOrd="1" destOrd="0" presId="urn:microsoft.com/office/officeart/2018/2/layout/IconVerticalSolidList"/>
    <dgm:cxn modelId="{5CB0FFBA-036D-482F-B82B-7C00AF7FF24E}" type="presParOf" srcId="{72779557-1AB9-4906-96FA-D111059E12B5}" destId="{B420444D-655F-4A20-B4D7-DBCC1DA57B58}" srcOrd="2" destOrd="0" presId="urn:microsoft.com/office/officeart/2018/2/layout/IconVerticalSolidList"/>
    <dgm:cxn modelId="{9176F1A4-342C-4FAE-9C26-00BDDFFACDD7}" type="presParOf" srcId="{72779557-1AB9-4906-96FA-D111059E12B5}" destId="{E784AAA5-F8E8-4074-A81F-E71645A5105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D8D0BAA-1E10-454E-8071-7F7E1E3B2B2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ABE5C8B-6D40-4CC2-BE85-4C5B8248402B}">
      <dgm:prSet/>
      <dgm:spPr/>
      <dgm:t>
        <a:bodyPr/>
        <a:lstStyle/>
        <a:p>
          <a:r>
            <a:rPr lang="en-US" b="1"/>
            <a:t>Training Set:</a:t>
          </a:r>
          <a:r>
            <a:rPr lang="en-US"/>
            <a:t> 70% (~77,369 samples)</a:t>
          </a:r>
        </a:p>
      </dgm:t>
    </dgm:pt>
    <dgm:pt modelId="{FB1B340D-4338-4C2D-863E-4C97469E4DA1}" type="parTrans" cxnId="{EDE3809D-1AF5-4FB3-BE92-936605744B06}">
      <dgm:prSet/>
      <dgm:spPr/>
      <dgm:t>
        <a:bodyPr/>
        <a:lstStyle/>
        <a:p>
          <a:endParaRPr lang="en-US"/>
        </a:p>
      </dgm:t>
    </dgm:pt>
    <dgm:pt modelId="{C3943ED2-67A4-4649-A07C-5B7E71DEFE28}" type="sibTrans" cxnId="{EDE3809D-1AF5-4FB3-BE92-936605744B06}">
      <dgm:prSet/>
      <dgm:spPr/>
      <dgm:t>
        <a:bodyPr/>
        <a:lstStyle/>
        <a:p>
          <a:endParaRPr lang="en-US"/>
        </a:p>
      </dgm:t>
    </dgm:pt>
    <dgm:pt modelId="{8F086F1A-3023-49D9-8630-A5EBB585A737}">
      <dgm:prSet/>
      <dgm:spPr/>
      <dgm:t>
        <a:bodyPr/>
        <a:lstStyle/>
        <a:p>
          <a:r>
            <a:rPr lang="en-US" b="1"/>
            <a:t>Validation Set:</a:t>
          </a:r>
          <a:r>
            <a:rPr lang="en-US"/>
            <a:t> 15% (~16,579 samples)</a:t>
          </a:r>
        </a:p>
      </dgm:t>
    </dgm:pt>
    <dgm:pt modelId="{85D0C652-11A8-49C4-AD1D-B44A0EC7CBF1}" type="parTrans" cxnId="{3FA6A647-572D-44D6-95F3-640344A649E5}">
      <dgm:prSet/>
      <dgm:spPr/>
      <dgm:t>
        <a:bodyPr/>
        <a:lstStyle/>
        <a:p>
          <a:endParaRPr lang="en-US"/>
        </a:p>
      </dgm:t>
    </dgm:pt>
    <dgm:pt modelId="{F02D78B5-6B44-4D82-8082-FA42DB72EFD3}" type="sibTrans" cxnId="{3FA6A647-572D-44D6-95F3-640344A649E5}">
      <dgm:prSet/>
      <dgm:spPr/>
      <dgm:t>
        <a:bodyPr/>
        <a:lstStyle/>
        <a:p>
          <a:endParaRPr lang="en-US"/>
        </a:p>
      </dgm:t>
    </dgm:pt>
    <dgm:pt modelId="{5FA22A55-7794-4041-94F7-447E01BCBEFD}">
      <dgm:prSet/>
      <dgm:spPr/>
      <dgm:t>
        <a:bodyPr/>
        <a:lstStyle/>
        <a:p>
          <a:r>
            <a:rPr lang="en-US" b="1"/>
            <a:t>Test Set:</a:t>
          </a:r>
          <a:r>
            <a:rPr lang="en-US"/>
            <a:t> 15% (~16,579 samples)</a:t>
          </a:r>
        </a:p>
      </dgm:t>
    </dgm:pt>
    <dgm:pt modelId="{2B9A6D71-6ADC-4553-9A9B-EBFE2A656D9C}" type="parTrans" cxnId="{FCE99845-CA13-43DB-B7C0-6B79F526F795}">
      <dgm:prSet/>
      <dgm:spPr/>
      <dgm:t>
        <a:bodyPr/>
        <a:lstStyle/>
        <a:p>
          <a:endParaRPr lang="en-US"/>
        </a:p>
      </dgm:t>
    </dgm:pt>
    <dgm:pt modelId="{6F00C2E7-D8F4-4E52-A8B8-7E9EE29DA3DD}" type="sibTrans" cxnId="{FCE99845-CA13-43DB-B7C0-6B79F526F795}">
      <dgm:prSet/>
      <dgm:spPr/>
      <dgm:t>
        <a:bodyPr/>
        <a:lstStyle/>
        <a:p>
          <a:endParaRPr lang="en-US"/>
        </a:p>
      </dgm:t>
    </dgm:pt>
    <dgm:pt modelId="{6A694470-5666-4EE0-B356-F35AC9BD837C}" type="pres">
      <dgm:prSet presAssocID="{4D8D0BAA-1E10-454E-8071-7F7E1E3B2B24}" presName="root" presStyleCnt="0">
        <dgm:presLayoutVars>
          <dgm:dir/>
          <dgm:resizeHandles val="exact"/>
        </dgm:presLayoutVars>
      </dgm:prSet>
      <dgm:spPr/>
    </dgm:pt>
    <dgm:pt modelId="{D31E88FC-9BCE-4E61-B7A8-91DF3CB4E750}" type="pres">
      <dgm:prSet presAssocID="{8ABE5C8B-6D40-4CC2-BE85-4C5B8248402B}" presName="compNode" presStyleCnt="0"/>
      <dgm:spPr/>
    </dgm:pt>
    <dgm:pt modelId="{99BC7C4A-D6E0-413D-A455-C536ADA6842C}" type="pres">
      <dgm:prSet presAssocID="{8ABE5C8B-6D40-4CC2-BE85-4C5B8248402B}" presName="bgRect" presStyleLbl="bgShp" presStyleIdx="0" presStyleCnt="3"/>
      <dgm:spPr/>
    </dgm:pt>
    <dgm:pt modelId="{6631422B-34BC-4EDF-9B0D-029B57B58F5D}" type="pres">
      <dgm:prSet presAssocID="{8ABE5C8B-6D40-4CC2-BE85-4C5B8248402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2F91017F-1FEC-407A-A7EB-388EDD9A0F37}" type="pres">
      <dgm:prSet presAssocID="{8ABE5C8B-6D40-4CC2-BE85-4C5B8248402B}" presName="spaceRect" presStyleCnt="0"/>
      <dgm:spPr/>
    </dgm:pt>
    <dgm:pt modelId="{D3C332B8-0E9C-45F1-A4C4-5C99CAE194F3}" type="pres">
      <dgm:prSet presAssocID="{8ABE5C8B-6D40-4CC2-BE85-4C5B8248402B}" presName="parTx" presStyleLbl="revTx" presStyleIdx="0" presStyleCnt="3">
        <dgm:presLayoutVars>
          <dgm:chMax val="0"/>
          <dgm:chPref val="0"/>
        </dgm:presLayoutVars>
      </dgm:prSet>
      <dgm:spPr/>
    </dgm:pt>
    <dgm:pt modelId="{36F124AA-FCF5-4DFA-A736-F3496E96A62C}" type="pres">
      <dgm:prSet presAssocID="{C3943ED2-67A4-4649-A07C-5B7E71DEFE28}" presName="sibTrans" presStyleCnt="0"/>
      <dgm:spPr/>
    </dgm:pt>
    <dgm:pt modelId="{DF47F982-8B30-4C1A-968B-FF079E200111}" type="pres">
      <dgm:prSet presAssocID="{8F086F1A-3023-49D9-8630-A5EBB585A737}" presName="compNode" presStyleCnt="0"/>
      <dgm:spPr/>
    </dgm:pt>
    <dgm:pt modelId="{109650E5-9E37-4E19-AF26-22CAD64C3695}" type="pres">
      <dgm:prSet presAssocID="{8F086F1A-3023-49D9-8630-A5EBB585A737}" presName="bgRect" presStyleLbl="bgShp" presStyleIdx="1" presStyleCnt="3"/>
      <dgm:spPr/>
    </dgm:pt>
    <dgm:pt modelId="{47B048F7-2F4F-411F-9EBE-BB5B4CB44DED}" type="pres">
      <dgm:prSet presAssocID="{8F086F1A-3023-49D9-8630-A5EBB585A73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J"/>
        </a:ext>
      </dgm:extLst>
    </dgm:pt>
    <dgm:pt modelId="{6BE6B566-36F3-4BFD-B561-84AEA47262DE}" type="pres">
      <dgm:prSet presAssocID="{8F086F1A-3023-49D9-8630-A5EBB585A737}" presName="spaceRect" presStyleCnt="0"/>
      <dgm:spPr/>
    </dgm:pt>
    <dgm:pt modelId="{A6021C2E-F243-4C15-85DE-B8A366DE3220}" type="pres">
      <dgm:prSet presAssocID="{8F086F1A-3023-49D9-8630-A5EBB585A737}" presName="parTx" presStyleLbl="revTx" presStyleIdx="1" presStyleCnt="3">
        <dgm:presLayoutVars>
          <dgm:chMax val="0"/>
          <dgm:chPref val="0"/>
        </dgm:presLayoutVars>
      </dgm:prSet>
      <dgm:spPr/>
    </dgm:pt>
    <dgm:pt modelId="{42A8D005-FCF8-4A90-8263-EB011E08B717}" type="pres">
      <dgm:prSet presAssocID="{F02D78B5-6B44-4D82-8082-FA42DB72EFD3}" presName="sibTrans" presStyleCnt="0"/>
      <dgm:spPr/>
    </dgm:pt>
    <dgm:pt modelId="{9D264023-8B47-48E6-A2C8-8AD9C841C0CB}" type="pres">
      <dgm:prSet presAssocID="{5FA22A55-7794-4041-94F7-447E01BCBEFD}" presName="compNode" presStyleCnt="0"/>
      <dgm:spPr/>
    </dgm:pt>
    <dgm:pt modelId="{19EB13CA-74DE-4422-B3EE-141D0207C732}" type="pres">
      <dgm:prSet presAssocID="{5FA22A55-7794-4041-94F7-447E01BCBEFD}" presName="bgRect" presStyleLbl="bgShp" presStyleIdx="2" presStyleCnt="3"/>
      <dgm:spPr/>
    </dgm:pt>
    <dgm:pt modelId="{2BAAF1F8-840E-40D0-8E1F-E7B484B0A072}" type="pres">
      <dgm:prSet presAssocID="{5FA22A55-7794-4041-94F7-447E01BCBEF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aker"/>
        </a:ext>
      </dgm:extLst>
    </dgm:pt>
    <dgm:pt modelId="{EA29ECA6-5D97-4BED-B81F-86DBEBEF20EE}" type="pres">
      <dgm:prSet presAssocID="{5FA22A55-7794-4041-94F7-447E01BCBEFD}" presName="spaceRect" presStyleCnt="0"/>
      <dgm:spPr/>
    </dgm:pt>
    <dgm:pt modelId="{F3E49157-48CD-4CEC-9C8B-EDCA4D93B3D6}" type="pres">
      <dgm:prSet presAssocID="{5FA22A55-7794-4041-94F7-447E01BCBEFD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CB0345C-E4F9-461D-9BDB-8AF3E563B70F}" type="presOf" srcId="{5FA22A55-7794-4041-94F7-447E01BCBEFD}" destId="{F3E49157-48CD-4CEC-9C8B-EDCA4D93B3D6}" srcOrd="0" destOrd="0" presId="urn:microsoft.com/office/officeart/2018/2/layout/IconVerticalSolidList"/>
    <dgm:cxn modelId="{FCE99845-CA13-43DB-B7C0-6B79F526F795}" srcId="{4D8D0BAA-1E10-454E-8071-7F7E1E3B2B24}" destId="{5FA22A55-7794-4041-94F7-447E01BCBEFD}" srcOrd="2" destOrd="0" parTransId="{2B9A6D71-6ADC-4553-9A9B-EBFE2A656D9C}" sibTransId="{6F00C2E7-D8F4-4E52-A8B8-7E9EE29DA3DD}"/>
    <dgm:cxn modelId="{3FA6A647-572D-44D6-95F3-640344A649E5}" srcId="{4D8D0BAA-1E10-454E-8071-7F7E1E3B2B24}" destId="{8F086F1A-3023-49D9-8630-A5EBB585A737}" srcOrd="1" destOrd="0" parTransId="{85D0C652-11A8-49C4-AD1D-B44A0EC7CBF1}" sibTransId="{F02D78B5-6B44-4D82-8082-FA42DB72EFD3}"/>
    <dgm:cxn modelId="{9810C951-9366-4714-AFD5-521049CC5E3D}" type="presOf" srcId="{8F086F1A-3023-49D9-8630-A5EBB585A737}" destId="{A6021C2E-F243-4C15-85DE-B8A366DE3220}" srcOrd="0" destOrd="0" presId="urn:microsoft.com/office/officeart/2018/2/layout/IconVerticalSolidList"/>
    <dgm:cxn modelId="{EDE3809D-1AF5-4FB3-BE92-936605744B06}" srcId="{4D8D0BAA-1E10-454E-8071-7F7E1E3B2B24}" destId="{8ABE5C8B-6D40-4CC2-BE85-4C5B8248402B}" srcOrd="0" destOrd="0" parTransId="{FB1B340D-4338-4C2D-863E-4C97469E4DA1}" sibTransId="{C3943ED2-67A4-4649-A07C-5B7E71DEFE28}"/>
    <dgm:cxn modelId="{1A6187A5-3EAB-405E-B20B-D490F34A37F8}" type="presOf" srcId="{8ABE5C8B-6D40-4CC2-BE85-4C5B8248402B}" destId="{D3C332B8-0E9C-45F1-A4C4-5C99CAE194F3}" srcOrd="0" destOrd="0" presId="urn:microsoft.com/office/officeart/2018/2/layout/IconVerticalSolidList"/>
    <dgm:cxn modelId="{CF1BA1CE-8E4D-43FD-ABC7-01FE8FDACFCA}" type="presOf" srcId="{4D8D0BAA-1E10-454E-8071-7F7E1E3B2B24}" destId="{6A694470-5666-4EE0-B356-F35AC9BD837C}" srcOrd="0" destOrd="0" presId="urn:microsoft.com/office/officeart/2018/2/layout/IconVerticalSolidList"/>
    <dgm:cxn modelId="{8851DF04-94DA-428B-99EE-D200DED92552}" type="presParOf" srcId="{6A694470-5666-4EE0-B356-F35AC9BD837C}" destId="{D31E88FC-9BCE-4E61-B7A8-91DF3CB4E750}" srcOrd="0" destOrd="0" presId="urn:microsoft.com/office/officeart/2018/2/layout/IconVerticalSolidList"/>
    <dgm:cxn modelId="{B7F6E3BB-9542-43D3-ADF6-954FA56061D1}" type="presParOf" srcId="{D31E88FC-9BCE-4E61-B7A8-91DF3CB4E750}" destId="{99BC7C4A-D6E0-413D-A455-C536ADA6842C}" srcOrd="0" destOrd="0" presId="urn:microsoft.com/office/officeart/2018/2/layout/IconVerticalSolidList"/>
    <dgm:cxn modelId="{400E2798-A508-4328-A944-EE92A1ED3515}" type="presParOf" srcId="{D31E88FC-9BCE-4E61-B7A8-91DF3CB4E750}" destId="{6631422B-34BC-4EDF-9B0D-029B57B58F5D}" srcOrd="1" destOrd="0" presId="urn:microsoft.com/office/officeart/2018/2/layout/IconVerticalSolidList"/>
    <dgm:cxn modelId="{6CE34833-8632-42FD-93DC-AFC5439593E3}" type="presParOf" srcId="{D31E88FC-9BCE-4E61-B7A8-91DF3CB4E750}" destId="{2F91017F-1FEC-407A-A7EB-388EDD9A0F37}" srcOrd="2" destOrd="0" presId="urn:microsoft.com/office/officeart/2018/2/layout/IconVerticalSolidList"/>
    <dgm:cxn modelId="{B3568359-0127-4F6F-8872-E09A37A2EE89}" type="presParOf" srcId="{D31E88FC-9BCE-4E61-B7A8-91DF3CB4E750}" destId="{D3C332B8-0E9C-45F1-A4C4-5C99CAE194F3}" srcOrd="3" destOrd="0" presId="urn:microsoft.com/office/officeart/2018/2/layout/IconVerticalSolidList"/>
    <dgm:cxn modelId="{F31C62F0-61EF-4EBD-ADB2-9F88A3787D5F}" type="presParOf" srcId="{6A694470-5666-4EE0-B356-F35AC9BD837C}" destId="{36F124AA-FCF5-4DFA-A736-F3496E96A62C}" srcOrd="1" destOrd="0" presId="urn:microsoft.com/office/officeart/2018/2/layout/IconVerticalSolidList"/>
    <dgm:cxn modelId="{B58EB39F-1DBE-4B24-928D-9DDD0C64B2A7}" type="presParOf" srcId="{6A694470-5666-4EE0-B356-F35AC9BD837C}" destId="{DF47F982-8B30-4C1A-968B-FF079E200111}" srcOrd="2" destOrd="0" presId="urn:microsoft.com/office/officeart/2018/2/layout/IconVerticalSolidList"/>
    <dgm:cxn modelId="{39D17DC0-41F1-4B1B-AA1C-957D3C170474}" type="presParOf" srcId="{DF47F982-8B30-4C1A-968B-FF079E200111}" destId="{109650E5-9E37-4E19-AF26-22CAD64C3695}" srcOrd="0" destOrd="0" presId="urn:microsoft.com/office/officeart/2018/2/layout/IconVerticalSolidList"/>
    <dgm:cxn modelId="{4A260617-DB2E-44F5-B36C-A465F6D7240E}" type="presParOf" srcId="{DF47F982-8B30-4C1A-968B-FF079E200111}" destId="{47B048F7-2F4F-411F-9EBE-BB5B4CB44DED}" srcOrd="1" destOrd="0" presId="urn:microsoft.com/office/officeart/2018/2/layout/IconVerticalSolidList"/>
    <dgm:cxn modelId="{859E8F6D-46F2-48F9-A45A-EE4CB5E9E511}" type="presParOf" srcId="{DF47F982-8B30-4C1A-968B-FF079E200111}" destId="{6BE6B566-36F3-4BFD-B561-84AEA47262DE}" srcOrd="2" destOrd="0" presId="urn:microsoft.com/office/officeart/2018/2/layout/IconVerticalSolidList"/>
    <dgm:cxn modelId="{3C731547-0E99-4F1C-8AA7-12996E260314}" type="presParOf" srcId="{DF47F982-8B30-4C1A-968B-FF079E200111}" destId="{A6021C2E-F243-4C15-85DE-B8A366DE3220}" srcOrd="3" destOrd="0" presId="urn:microsoft.com/office/officeart/2018/2/layout/IconVerticalSolidList"/>
    <dgm:cxn modelId="{D93A5977-E6B2-4777-8480-5DB83C0085F2}" type="presParOf" srcId="{6A694470-5666-4EE0-B356-F35AC9BD837C}" destId="{42A8D005-FCF8-4A90-8263-EB011E08B717}" srcOrd="3" destOrd="0" presId="urn:microsoft.com/office/officeart/2018/2/layout/IconVerticalSolidList"/>
    <dgm:cxn modelId="{44566A4A-5D47-4AB4-9FF7-8500DF58D579}" type="presParOf" srcId="{6A694470-5666-4EE0-B356-F35AC9BD837C}" destId="{9D264023-8B47-48E6-A2C8-8AD9C841C0CB}" srcOrd="4" destOrd="0" presId="urn:microsoft.com/office/officeart/2018/2/layout/IconVerticalSolidList"/>
    <dgm:cxn modelId="{66C6332D-3541-496C-BEE1-96133EF6B6B6}" type="presParOf" srcId="{9D264023-8B47-48E6-A2C8-8AD9C841C0CB}" destId="{19EB13CA-74DE-4422-B3EE-141D0207C732}" srcOrd="0" destOrd="0" presId="urn:microsoft.com/office/officeart/2018/2/layout/IconVerticalSolidList"/>
    <dgm:cxn modelId="{7A37604C-6456-4C5B-BFE4-3172A241F6F9}" type="presParOf" srcId="{9D264023-8B47-48E6-A2C8-8AD9C841C0CB}" destId="{2BAAF1F8-840E-40D0-8E1F-E7B484B0A072}" srcOrd="1" destOrd="0" presId="urn:microsoft.com/office/officeart/2018/2/layout/IconVerticalSolidList"/>
    <dgm:cxn modelId="{AF5DE70B-C5FD-467F-B0A6-BEDAB27E220D}" type="presParOf" srcId="{9D264023-8B47-48E6-A2C8-8AD9C841C0CB}" destId="{EA29ECA6-5D97-4BED-B81F-86DBEBEF20EE}" srcOrd="2" destOrd="0" presId="urn:microsoft.com/office/officeart/2018/2/layout/IconVerticalSolidList"/>
    <dgm:cxn modelId="{E17BC664-21DC-40CC-9B07-47FC35291B46}" type="presParOf" srcId="{9D264023-8B47-48E6-A2C8-8AD9C841C0CB}" destId="{F3E49157-48CD-4CEC-9C8B-EDCA4D93B3D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5A386B-B8C0-4CC0-9BF5-2B5DD317E924}">
      <dsp:nvSpPr>
        <dsp:cNvPr id="0" name=""/>
        <dsp:cNvSpPr/>
      </dsp:nvSpPr>
      <dsp:spPr>
        <a:xfrm>
          <a:off x="0" y="2121"/>
          <a:ext cx="7216416" cy="10751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F0CDBC-AEC9-43B9-AD92-A7528B313FFE}">
      <dsp:nvSpPr>
        <dsp:cNvPr id="0" name=""/>
        <dsp:cNvSpPr/>
      </dsp:nvSpPr>
      <dsp:spPr>
        <a:xfrm>
          <a:off x="325236" y="244032"/>
          <a:ext cx="591338" cy="59133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BBD06D-FA3B-4656-AA36-C908ACEAA7AB}">
      <dsp:nvSpPr>
        <dsp:cNvPr id="0" name=""/>
        <dsp:cNvSpPr/>
      </dsp:nvSpPr>
      <dsp:spPr>
        <a:xfrm>
          <a:off x="1241811" y="2121"/>
          <a:ext cx="5974604" cy="1075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88" tIns="113788" rIns="113788" bIns="11378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No-shows cause financial loss and scheduling inefficiency.</a:t>
          </a:r>
        </a:p>
      </dsp:txBody>
      <dsp:txXfrm>
        <a:off x="1241811" y="2121"/>
        <a:ext cx="5974604" cy="1075161"/>
      </dsp:txXfrm>
    </dsp:sp>
    <dsp:sp modelId="{CFCF0770-B695-43F1-933F-66C93B0069AB}">
      <dsp:nvSpPr>
        <dsp:cNvPr id="0" name=""/>
        <dsp:cNvSpPr/>
      </dsp:nvSpPr>
      <dsp:spPr>
        <a:xfrm>
          <a:off x="0" y="1346073"/>
          <a:ext cx="7216416" cy="10751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33B027-4A51-4BB3-9B2A-4A6CCBA51402}">
      <dsp:nvSpPr>
        <dsp:cNvPr id="0" name=""/>
        <dsp:cNvSpPr/>
      </dsp:nvSpPr>
      <dsp:spPr>
        <a:xfrm>
          <a:off x="325236" y="1587984"/>
          <a:ext cx="591338" cy="59133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F7697F-5A31-4D76-83C9-5753D022CCB1}">
      <dsp:nvSpPr>
        <dsp:cNvPr id="0" name=""/>
        <dsp:cNvSpPr/>
      </dsp:nvSpPr>
      <dsp:spPr>
        <a:xfrm>
          <a:off x="1241811" y="1346073"/>
          <a:ext cx="5974604" cy="1075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88" tIns="113788" rIns="113788" bIns="11378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Objective: predict whether a booked patient will attend their appointment.</a:t>
          </a:r>
        </a:p>
      </dsp:txBody>
      <dsp:txXfrm>
        <a:off x="1241811" y="1346073"/>
        <a:ext cx="5974604" cy="1075161"/>
      </dsp:txXfrm>
    </dsp:sp>
    <dsp:sp modelId="{5077C9A1-794F-474F-AEFD-2B22D9C2B408}">
      <dsp:nvSpPr>
        <dsp:cNvPr id="0" name=""/>
        <dsp:cNvSpPr/>
      </dsp:nvSpPr>
      <dsp:spPr>
        <a:xfrm>
          <a:off x="0" y="2690025"/>
          <a:ext cx="7216416" cy="10751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D8DF96-55F4-41CF-BD94-5105C7AE8191}">
      <dsp:nvSpPr>
        <dsp:cNvPr id="0" name=""/>
        <dsp:cNvSpPr/>
      </dsp:nvSpPr>
      <dsp:spPr>
        <a:xfrm>
          <a:off x="325236" y="2931936"/>
          <a:ext cx="591338" cy="59133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5EF91F-3778-4ABA-A5F1-E90479AEA13C}">
      <dsp:nvSpPr>
        <dsp:cNvPr id="0" name=""/>
        <dsp:cNvSpPr/>
      </dsp:nvSpPr>
      <dsp:spPr>
        <a:xfrm>
          <a:off x="1241811" y="2690025"/>
          <a:ext cx="5974604" cy="1075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88" tIns="113788" rIns="113788" bIns="11378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Model output: probability ∈ [0, 1] → interpreted as risk of no-show.</a:t>
          </a:r>
        </a:p>
      </dsp:txBody>
      <dsp:txXfrm>
        <a:off x="1241811" y="2690025"/>
        <a:ext cx="5974604" cy="1075161"/>
      </dsp:txXfrm>
    </dsp:sp>
    <dsp:sp modelId="{F1054725-9840-4BE0-B949-F419B0829485}">
      <dsp:nvSpPr>
        <dsp:cNvPr id="0" name=""/>
        <dsp:cNvSpPr/>
      </dsp:nvSpPr>
      <dsp:spPr>
        <a:xfrm>
          <a:off x="0" y="4033977"/>
          <a:ext cx="7216416" cy="10751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E3D55A-BB32-4352-BD60-9160E6F96BE3}">
      <dsp:nvSpPr>
        <dsp:cNvPr id="0" name=""/>
        <dsp:cNvSpPr/>
      </dsp:nvSpPr>
      <dsp:spPr>
        <a:xfrm>
          <a:off x="325236" y="4275888"/>
          <a:ext cx="591338" cy="59133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84AAA5-F8E8-4074-A81F-E71645A51051}">
      <dsp:nvSpPr>
        <dsp:cNvPr id="0" name=""/>
        <dsp:cNvSpPr/>
      </dsp:nvSpPr>
      <dsp:spPr>
        <a:xfrm>
          <a:off x="1241811" y="4033977"/>
          <a:ext cx="5974604" cy="1075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88" tIns="113788" rIns="113788" bIns="11378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Goal metric:</a:t>
          </a:r>
          <a:r>
            <a:rPr lang="en-US" sz="2200" kern="1200"/>
            <a:t> maximize AUC-ROC and F1 score.</a:t>
          </a:r>
        </a:p>
      </dsp:txBody>
      <dsp:txXfrm>
        <a:off x="1241811" y="4033977"/>
        <a:ext cx="5974604" cy="107516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BC7C4A-D6E0-413D-A455-C536ADA6842C}">
      <dsp:nvSpPr>
        <dsp:cNvPr id="0" name=""/>
        <dsp:cNvSpPr/>
      </dsp:nvSpPr>
      <dsp:spPr>
        <a:xfrm>
          <a:off x="0" y="623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31422B-34BC-4EDF-9B0D-029B57B58F5D}">
      <dsp:nvSpPr>
        <dsp:cNvPr id="0" name=""/>
        <dsp:cNvSpPr/>
      </dsp:nvSpPr>
      <dsp:spPr>
        <a:xfrm>
          <a:off x="441651" y="329124"/>
          <a:ext cx="803001" cy="80300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C332B8-0E9C-45F1-A4C4-5C99CAE194F3}">
      <dsp:nvSpPr>
        <dsp:cNvPr id="0" name=""/>
        <dsp:cNvSpPr/>
      </dsp:nvSpPr>
      <dsp:spPr>
        <a:xfrm>
          <a:off x="1686304" y="623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Training Set:</a:t>
          </a:r>
          <a:r>
            <a:rPr lang="en-US" sz="2500" kern="1200"/>
            <a:t> 70% (~77,369 samples)</a:t>
          </a:r>
        </a:p>
      </dsp:txBody>
      <dsp:txXfrm>
        <a:off x="1686304" y="623"/>
        <a:ext cx="5530111" cy="1460003"/>
      </dsp:txXfrm>
    </dsp:sp>
    <dsp:sp modelId="{109650E5-9E37-4E19-AF26-22CAD64C3695}">
      <dsp:nvSpPr>
        <dsp:cNvPr id="0" name=""/>
        <dsp:cNvSpPr/>
      </dsp:nvSpPr>
      <dsp:spPr>
        <a:xfrm>
          <a:off x="0" y="1825628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B048F7-2F4F-411F-9EBE-BB5B4CB44DED}">
      <dsp:nvSpPr>
        <dsp:cNvPr id="0" name=""/>
        <dsp:cNvSpPr/>
      </dsp:nvSpPr>
      <dsp:spPr>
        <a:xfrm>
          <a:off x="441651" y="2154129"/>
          <a:ext cx="803001" cy="80300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021C2E-F243-4C15-85DE-B8A366DE3220}">
      <dsp:nvSpPr>
        <dsp:cNvPr id="0" name=""/>
        <dsp:cNvSpPr/>
      </dsp:nvSpPr>
      <dsp:spPr>
        <a:xfrm>
          <a:off x="1686304" y="1825628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Validation Set:</a:t>
          </a:r>
          <a:r>
            <a:rPr lang="en-US" sz="2500" kern="1200"/>
            <a:t> 15% (~16,579 samples)</a:t>
          </a:r>
        </a:p>
      </dsp:txBody>
      <dsp:txXfrm>
        <a:off x="1686304" y="1825628"/>
        <a:ext cx="5530111" cy="1460003"/>
      </dsp:txXfrm>
    </dsp:sp>
    <dsp:sp modelId="{19EB13CA-74DE-4422-B3EE-141D0207C732}">
      <dsp:nvSpPr>
        <dsp:cNvPr id="0" name=""/>
        <dsp:cNvSpPr/>
      </dsp:nvSpPr>
      <dsp:spPr>
        <a:xfrm>
          <a:off x="0" y="3650632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AAF1F8-840E-40D0-8E1F-E7B484B0A072}">
      <dsp:nvSpPr>
        <dsp:cNvPr id="0" name=""/>
        <dsp:cNvSpPr/>
      </dsp:nvSpPr>
      <dsp:spPr>
        <a:xfrm>
          <a:off x="441651" y="3979133"/>
          <a:ext cx="803001" cy="80300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E49157-48CD-4CEC-9C8B-EDCA4D93B3D6}">
      <dsp:nvSpPr>
        <dsp:cNvPr id="0" name=""/>
        <dsp:cNvSpPr/>
      </dsp:nvSpPr>
      <dsp:spPr>
        <a:xfrm>
          <a:off x="1686304" y="3650632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Test Set:</a:t>
          </a:r>
          <a:r>
            <a:rPr lang="en-US" sz="2500" kern="1200"/>
            <a:t> 15% (~16,579 samples)</a:t>
          </a:r>
        </a:p>
      </dsp:txBody>
      <dsp:txXfrm>
        <a:off x="1686304" y="3650632"/>
        <a:ext cx="5530111" cy="14600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959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387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4317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34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10/26/2025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445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10/26/2025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784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10/26/2025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687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744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419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471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037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3416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16" r:id="rId6"/>
    <p:sldLayoutId id="2147483712" r:id="rId7"/>
    <p:sldLayoutId id="2147483713" r:id="rId8"/>
    <p:sldLayoutId id="2147483714" r:id="rId9"/>
    <p:sldLayoutId id="2147483715" r:id="rId10"/>
    <p:sldLayoutId id="214748371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37528" y="1032764"/>
            <a:ext cx="4308672" cy="3224045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>
                <a:ea typeface="+mj-lt"/>
                <a:cs typeface="+mj-lt"/>
              </a:rPr>
              <a:t>Predicting Appointment No-Shows Using Deep Neural Networks</a:t>
            </a:r>
            <a:endParaRPr lang="en-US" sz="41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35756" y="5046281"/>
            <a:ext cx="4308672" cy="117240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Fatkhullakh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>
                <a:ea typeface="+mn-lt"/>
                <a:cs typeface="+mn-lt"/>
              </a:rPr>
              <a:t>Turakhonov</a:t>
            </a:r>
            <a:r>
              <a:rPr lang="en-US" dirty="0">
                <a:ea typeface="+mn-lt"/>
                <a:cs typeface="+mn-lt"/>
              </a:rPr>
              <a:t>, 192066</a:t>
            </a:r>
            <a:br>
              <a:rPr lang="en-US" dirty="0">
                <a:ea typeface="+mn-lt"/>
                <a:cs typeface="+mn-lt"/>
              </a:rPr>
            </a:br>
            <a:endParaRPr lang="en-US" dirty="0">
              <a:ea typeface="+mn-lt"/>
              <a:cs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48349F-25A7-29EC-F593-C4B27377D3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147" r="-1" b="-1"/>
          <a:stretch>
            <a:fillRect/>
          </a:stretch>
        </p:blipFill>
        <p:spPr>
          <a:xfrm>
            <a:off x="20" y="10"/>
            <a:ext cx="6931132" cy="6857990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CA391F1-4B2C-521B-F6A5-52C74B303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75848" y="47115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A124F3-77A6-6E87-62D5-D4BFB3F6C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en-US" sz="3600" b="0">
                <a:ea typeface="+mj-lt"/>
                <a:cs typeface="+mj-lt"/>
              </a:rPr>
              <a:t>Problem Formulation</a:t>
            </a:r>
            <a:endParaRPr lang="en-US" sz="36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664E00F-B78F-2D85-3687-2E2F9B5F17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8838165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96609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0A7358-1E78-70CB-EBA8-33451CB27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98860"/>
            <a:ext cx="4265763" cy="1441776"/>
          </a:xfrm>
        </p:spPr>
        <p:txBody>
          <a:bodyPr anchor="t">
            <a:normAutofit/>
          </a:bodyPr>
          <a:lstStyle/>
          <a:p>
            <a:r>
              <a:rPr lang="en-US" b="0" dirty="0">
                <a:ea typeface="+mj-lt"/>
                <a:cs typeface="+mj-lt"/>
              </a:rPr>
              <a:t>Dataset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83263-0A64-3F76-1E72-3691562C5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1353" y="2189857"/>
            <a:ext cx="5269831" cy="344539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Source:</a:t>
            </a:r>
            <a:r>
              <a:rPr lang="en-US" dirty="0">
                <a:ea typeface="+mn-lt"/>
                <a:cs typeface="+mn-lt"/>
              </a:rPr>
              <a:t> Kaggle – Medical Appointment No-Shows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Rows:</a:t>
            </a:r>
            <a:r>
              <a:rPr lang="en-US" dirty="0">
                <a:ea typeface="+mn-lt"/>
                <a:cs typeface="+mn-lt"/>
              </a:rPr>
              <a:t> 110 527 </a:t>
            </a:r>
            <a:r>
              <a:rPr lang="en-US" b="1" dirty="0">
                <a:ea typeface="+mn-lt"/>
                <a:cs typeface="+mn-lt"/>
              </a:rPr>
              <a:t>Columns:</a:t>
            </a:r>
            <a:r>
              <a:rPr lang="en-US" dirty="0">
                <a:ea typeface="+mn-lt"/>
                <a:cs typeface="+mn-lt"/>
              </a:rPr>
              <a:t> 14 </a:t>
            </a:r>
            <a:r>
              <a:rPr lang="en-US" b="1" dirty="0">
                <a:ea typeface="+mn-lt"/>
                <a:cs typeface="+mn-lt"/>
              </a:rPr>
              <a:t>Size:</a:t>
            </a:r>
            <a:r>
              <a:rPr lang="en-US" dirty="0">
                <a:ea typeface="+mn-lt"/>
                <a:cs typeface="+mn-lt"/>
              </a:rPr>
              <a:t> ≈ 4 MB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Target column: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>
                <a:latin typeface="Consolas"/>
              </a:rPr>
              <a:t>No-show</a:t>
            </a:r>
            <a:r>
              <a:rPr lang="en-US" dirty="0">
                <a:ea typeface="+mn-lt"/>
                <a:cs typeface="+mn-lt"/>
              </a:rPr>
              <a:t> → “Yes” = did not come, “No” = attended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Label ratio:</a:t>
            </a:r>
            <a:r>
              <a:rPr lang="en-US" dirty="0">
                <a:ea typeface="+mn-lt"/>
                <a:cs typeface="+mn-lt"/>
              </a:rPr>
              <a:t> ≈ 20 % no-shows / 80 % shows</a:t>
            </a:r>
          </a:p>
          <a:p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130766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AA8D99-E6F3-7AED-D268-3087D14C8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n-US" dirty="0">
                <a:latin typeface="Segoe UI"/>
                <a:cs typeface="Segoe UI"/>
              </a:rPr>
              <a:t>Dataset Features</a:t>
            </a:r>
            <a:endParaRPr lang="en-US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CFC3B-3288-5D1E-4DFE-F42072E96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300" dirty="0">
                <a:latin typeface="Grandview Display"/>
                <a:cs typeface="Segoe UI"/>
              </a:rPr>
              <a:t>Patient Demographics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sz="1300" b="1" dirty="0">
                <a:latin typeface="Segoe UI"/>
                <a:cs typeface="Segoe UI"/>
              </a:rPr>
              <a:t>Gender:</a:t>
            </a:r>
            <a:r>
              <a:rPr lang="en-US" sz="1300" dirty="0">
                <a:latin typeface="Segoe UI"/>
                <a:cs typeface="Segoe UI"/>
              </a:rPr>
              <a:t> Male/Female</a:t>
            </a:r>
            <a:endParaRPr lang="en-US" sz="1300" dirty="0"/>
          </a:p>
          <a:p>
            <a:pPr>
              <a:lnSpc>
                <a:spcPct val="110000"/>
              </a:lnSpc>
            </a:pPr>
            <a:r>
              <a:rPr lang="en-US" sz="1300" b="1" dirty="0">
                <a:latin typeface="Segoe UI"/>
                <a:cs typeface="Segoe UI"/>
              </a:rPr>
              <a:t>Age:</a:t>
            </a:r>
            <a:r>
              <a:rPr lang="en-US" sz="1300" dirty="0">
                <a:latin typeface="Segoe UI"/>
                <a:cs typeface="Segoe UI"/>
              </a:rPr>
              <a:t> Patient age in years</a:t>
            </a:r>
            <a:endParaRPr lang="en-US" sz="1300"/>
          </a:p>
          <a:p>
            <a:pPr>
              <a:lnSpc>
                <a:spcPct val="110000"/>
              </a:lnSpc>
            </a:pPr>
            <a:r>
              <a:rPr lang="en-US" sz="1300" b="1" dirty="0" err="1">
                <a:latin typeface="Segoe UI"/>
                <a:cs typeface="Segoe UI"/>
              </a:rPr>
              <a:t>Neighbourhood</a:t>
            </a:r>
            <a:r>
              <a:rPr lang="en-US" sz="1300" b="1" dirty="0">
                <a:latin typeface="Segoe UI"/>
                <a:cs typeface="Segoe UI"/>
              </a:rPr>
              <a:t>:</a:t>
            </a:r>
            <a:r>
              <a:rPr lang="en-US" sz="1300" dirty="0">
                <a:latin typeface="Segoe UI"/>
                <a:cs typeface="Segoe UI"/>
              </a:rPr>
              <a:t> Patient location (81 unique areas)</a:t>
            </a:r>
            <a:endParaRPr lang="en-US" sz="1300"/>
          </a:p>
          <a:p>
            <a:pPr>
              <a:lnSpc>
                <a:spcPct val="110000"/>
              </a:lnSpc>
            </a:pPr>
            <a:r>
              <a:rPr lang="en-US" sz="1300" dirty="0"/>
              <a:t>Medical Conditions</a:t>
            </a:r>
          </a:p>
          <a:p>
            <a:pPr>
              <a:lnSpc>
                <a:spcPct val="110000"/>
              </a:lnSpc>
            </a:pPr>
            <a:r>
              <a:rPr lang="en-US" sz="1300" b="1" dirty="0">
                <a:latin typeface="Segoe UI"/>
                <a:cs typeface="Segoe UI"/>
              </a:rPr>
              <a:t>Hypertension:</a:t>
            </a:r>
            <a:r>
              <a:rPr lang="en-US" sz="1300" dirty="0">
                <a:latin typeface="Segoe UI"/>
                <a:cs typeface="Segoe UI"/>
              </a:rPr>
              <a:t> Binary (Yes/No)</a:t>
            </a:r>
            <a:endParaRPr lang="en-US" sz="1300"/>
          </a:p>
          <a:p>
            <a:pPr>
              <a:lnSpc>
                <a:spcPct val="110000"/>
              </a:lnSpc>
            </a:pPr>
            <a:r>
              <a:rPr lang="en-US" sz="1300" b="1" dirty="0">
                <a:latin typeface="Segoe UI"/>
                <a:cs typeface="Segoe UI"/>
              </a:rPr>
              <a:t>Diabetes:</a:t>
            </a:r>
            <a:r>
              <a:rPr lang="en-US" sz="1300" dirty="0">
                <a:latin typeface="Segoe UI"/>
                <a:cs typeface="Segoe UI"/>
              </a:rPr>
              <a:t> Binary (Yes/No)</a:t>
            </a:r>
            <a:endParaRPr lang="en-US" sz="1300"/>
          </a:p>
          <a:p>
            <a:pPr>
              <a:lnSpc>
                <a:spcPct val="110000"/>
              </a:lnSpc>
            </a:pPr>
            <a:r>
              <a:rPr lang="en-US" sz="1300" b="1" dirty="0">
                <a:latin typeface="Segoe UI"/>
                <a:cs typeface="Segoe UI"/>
              </a:rPr>
              <a:t>Alcoholism:</a:t>
            </a:r>
            <a:r>
              <a:rPr lang="en-US" sz="1300" dirty="0">
                <a:latin typeface="Segoe UI"/>
                <a:cs typeface="Segoe UI"/>
              </a:rPr>
              <a:t> Binary (Yes/No)</a:t>
            </a:r>
            <a:endParaRPr lang="en-US" sz="1300"/>
          </a:p>
          <a:p>
            <a:pPr>
              <a:lnSpc>
                <a:spcPct val="110000"/>
              </a:lnSpc>
            </a:pPr>
            <a:r>
              <a:rPr lang="en-US" sz="1300" b="1" dirty="0">
                <a:latin typeface="Segoe UI"/>
                <a:cs typeface="Segoe UI"/>
              </a:rPr>
              <a:t>Handicap:</a:t>
            </a:r>
            <a:r>
              <a:rPr lang="en-US" sz="1300" dirty="0">
                <a:latin typeface="Segoe UI"/>
                <a:cs typeface="Segoe UI"/>
              </a:rPr>
              <a:t> Disability level (0-4)</a:t>
            </a:r>
            <a:endParaRPr lang="en-US" sz="1300"/>
          </a:p>
          <a:p>
            <a:pPr>
              <a:lnSpc>
                <a:spcPct val="110000"/>
              </a:lnSpc>
            </a:pPr>
            <a:r>
              <a:rPr lang="en-US" sz="1300" dirty="0"/>
              <a:t>Appointment Details</a:t>
            </a:r>
          </a:p>
          <a:p>
            <a:pPr>
              <a:lnSpc>
                <a:spcPct val="110000"/>
              </a:lnSpc>
            </a:pPr>
            <a:r>
              <a:rPr lang="en-US" sz="1300" b="1" dirty="0" err="1">
                <a:latin typeface="Segoe UI"/>
                <a:cs typeface="Segoe UI"/>
              </a:rPr>
              <a:t>ScheduledDay</a:t>
            </a:r>
            <a:r>
              <a:rPr lang="en-US" sz="1300" b="1" dirty="0">
                <a:latin typeface="Segoe UI"/>
                <a:cs typeface="Segoe UI"/>
              </a:rPr>
              <a:t>:</a:t>
            </a:r>
            <a:r>
              <a:rPr lang="en-US" sz="1300" dirty="0">
                <a:latin typeface="Segoe UI"/>
                <a:cs typeface="Segoe UI"/>
              </a:rPr>
              <a:t> When appointment was scheduled</a:t>
            </a:r>
            <a:endParaRPr lang="en-US" sz="1300"/>
          </a:p>
          <a:p>
            <a:pPr>
              <a:lnSpc>
                <a:spcPct val="110000"/>
              </a:lnSpc>
            </a:pPr>
            <a:r>
              <a:rPr lang="en-US" sz="1300" b="1" dirty="0" err="1">
                <a:latin typeface="Segoe UI"/>
                <a:cs typeface="Segoe UI"/>
              </a:rPr>
              <a:t>AppointmentDay</a:t>
            </a:r>
            <a:r>
              <a:rPr lang="en-US" sz="1300" b="1" dirty="0">
                <a:latin typeface="Segoe UI"/>
                <a:cs typeface="Segoe UI"/>
              </a:rPr>
              <a:t>:</a:t>
            </a:r>
            <a:r>
              <a:rPr lang="en-US" sz="1300" dirty="0">
                <a:latin typeface="Segoe UI"/>
                <a:cs typeface="Segoe UI"/>
              </a:rPr>
              <a:t> Actual appointment date</a:t>
            </a:r>
            <a:endParaRPr lang="en-US" sz="1300"/>
          </a:p>
          <a:p>
            <a:pPr>
              <a:lnSpc>
                <a:spcPct val="110000"/>
              </a:lnSpc>
            </a:pPr>
            <a:r>
              <a:rPr lang="en-US" sz="1300" b="1" dirty="0">
                <a:latin typeface="Segoe UI"/>
                <a:cs typeface="Segoe UI"/>
              </a:rPr>
              <a:t>Waiting Time:</a:t>
            </a:r>
            <a:r>
              <a:rPr lang="en-US" sz="1300" dirty="0">
                <a:latin typeface="Segoe UI"/>
                <a:cs typeface="Segoe UI"/>
              </a:rPr>
              <a:t> Days between scheduling and appointment</a:t>
            </a:r>
            <a:endParaRPr lang="en-US" sz="1300"/>
          </a:p>
          <a:p>
            <a:pPr>
              <a:lnSpc>
                <a:spcPct val="110000"/>
              </a:lnSpc>
            </a:pPr>
            <a:r>
              <a:rPr lang="en-US" sz="1300" b="1" dirty="0" err="1">
                <a:latin typeface="Segoe UI"/>
                <a:cs typeface="Segoe UI"/>
              </a:rPr>
              <a:t>SMS_received</a:t>
            </a:r>
            <a:r>
              <a:rPr lang="en-US" sz="1300" b="1" dirty="0">
                <a:latin typeface="Segoe UI"/>
                <a:cs typeface="Segoe UI"/>
              </a:rPr>
              <a:t>:</a:t>
            </a:r>
            <a:r>
              <a:rPr lang="en-US" sz="1300" dirty="0">
                <a:latin typeface="Segoe UI"/>
                <a:cs typeface="Segoe UI"/>
              </a:rPr>
              <a:t> Whether reminder SMS was sent</a:t>
            </a:r>
            <a:endParaRPr lang="en-US" sz="1300"/>
          </a:p>
          <a:p>
            <a:pPr>
              <a:lnSpc>
                <a:spcPct val="110000"/>
              </a:lnSpc>
            </a:pPr>
            <a:r>
              <a:rPr lang="en-US" sz="1300" b="1" dirty="0">
                <a:latin typeface="Segoe UI"/>
                <a:cs typeface="Segoe UI"/>
              </a:rPr>
              <a:t>Scholarship:</a:t>
            </a:r>
            <a:r>
              <a:rPr lang="en-US" sz="1300" dirty="0">
                <a:latin typeface="Segoe UI"/>
                <a:cs typeface="Segoe UI"/>
              </a:rPr>
              <a:t> Enrollment in welfare program</a:t>
            </a:r>
            <a:endParaRPr lang="en-US" sz="1300"/>
          </a:p>
          <a:p>
            <a:pPr>
              <a:lnSpc>
                <a:spcPct val="110000"/>
              </a:lnSpc>
            </a:pPr>
            <a:endParaRPr lang="en-US" sz="130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0694E1F-471C-4340-BE4B-28F2BF7D7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627278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7322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5C2CF9-1B37-CD3A-2C13-3230A5AAB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en-US" sz="3600" b="0">
                <a:latin typeface="Segoe UI"/>
                <a:cs typeface="Segoe UI"/>
              </a:rPr>
              <a:t>Planned Data Splits</a:t>
            </a:r>
            <a:endParaRPr lang="en-US" sz="360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567B533C-45E4-549F-864C-DBB55909F6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2076033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85350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6240A1-90A1-C4A4-08D2-DFBBFF15D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70750"/>
            <a:ext cx="10890929" cy="1387934"/>
          </a:xfrm>
        </p:spPr>
        <p:txBody>
          <a:bodyPr anchor="b">
            <a:normAutofit/>
          </a:bodyPr>
          <a:lstStyle/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en-US" b="0">
                <a:latin typeface="Segoe UI"/>
                <a:cs typeface="Segoe UI"/>
              </a:rPr>
              <a:t>Most Important Predictors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B181B-F883-B426-5E93-3A101BF78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61673"/>
            <a:ext cx="10890929" cy="353624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>
                <a:latin typeface="Segoe UI"/>
                <a:cs typeface="Segoe UI"/>
              </a:rPr>
              <a:t>Past no-show history:</a:t>
            </a:r>
            <a:r>
              <a:rPr lang="en-US">
                <a:latin typeface="Segoe UI"/>
                <a:cs typeface="Segoe UI"/>
              </a:rPr>
              <a:t> Strongest predictor across all studies</a:t>
            </a:r>
            <a:endParaRPr lang="en-US"/>
          </a:p>
          <a:p>
            <a:r>
              <a:rPr lang="en-US" b="1">
                <a:latin typeface="Segoe UI"/>
                <a:cs typeface="Segoe UI"/>
              </a:rPr>
              <a:t>Waiting time:</a:t>
            </a:r>
            <a:r>
              <a:rPr lang="en-US">
                <a:latin typeface="Segoe UI"/>
                <a:cs typeface="Segoe UI"/>
              </a:rPr>
              <a:t> Days between scheduling and appointment</a:t>
            </a:r>
            <a:endParaRPr lang="en-US" dirty="0"/>
          </a:p>
          <a:p>
            <a:r>
              <a:rPr lang="en-US" b="1">
                <a:latin typeface="Segoe UI"/>
                <a:cs typeface="Segoe UI"/>
              </a:rPr>
              <a:t>SMS reminders:</a:t>
            </a:r>
            <a:r>
              <a:rPr lang="en-US">
                <a:latin typeface="Segoe UI"/>
                <a:cs typeface="Segoe UI"/>
              </a:rPr>
              <a:t> Significant impact on attendance</a:t>
            </a:r>
            <a:endParaRPr lang="en-US" dirty="0"/>
          </a:p>
          <a:p>
            <a:r>
              <a:rPr lang="en-US" b="1">
                <a:latin typeface="Segoe UI"/>
                <a:cs typeface="Segoe UI"/>
              </a:rPr>
              <a:t>Age and medical conditions:</a:t>
            </a:r>
            <a:r>
              <a:rPr lang="en-US">
                <a:latin typeface="Segoe UI"/>
                <a:cs typeface="Segoe UI"/>
              </a:rPr>
              <a:t> Moderate predictive power</a:t>
            </a:r>
            <a:endParaRPr lang="en-US" dirty="0"/>
          </a:p>
          <a:p>
            <a:r>
              <a:rPr lang="en-US" b="1">
                <a:latin typeface="Segoe UI"/>
                <a:cs typeface="Segoe UI"/>
              </a:rPr>
              <a:t>Day of week and time:</a:t>
            </a:r>
            <a:r>
              <a:rPr lang="en-US">
                <a:latin typeface="Segoe UI"/>
                <a:cs typeface="Segoe UI"/>
              </a:rPr>
              <a:t> Appointment scheduling factors</a:t>
            </a:r>
            <a:endParaRPr lang="en-US" dirty="0"/>
          </a:p>
          <a:p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5167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7725E-B465-7B21-51D1-66D3A2CED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ea typeface="+mj-lt"/>
                <a:cs typeface="+mj-lt"/>
              </a:rPr>
              <a:t>Related Work (Quick Review)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05DFA-9D48-4FE7-ABAC-CAE3ABAC62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i="1" dirty="0">
                <a:ea typeface="+mn-lt"/>
                <a:cs typeface="+mn-lt"/>
              </a:rPr>
              <a:t>Joni Arroba et al., 2016 (Kaggle)</a:t>
            </a:r>
            <a:r>
              <a:rPr lang="en-US" dirty="0">
                <a:ea typeface="+mn-lt"/>
                <a:cs typeface="+mn-lt"/>
              </a:rPr>
              <a:t> – Decision Trees and Logistic Regression achieved ~75 % accuracy.</a:t>
            </a:r>
            <a:endParaRPr lang="en-US" dirty="0"/>
          </a:p>
          <a:p>
            <a:r>
              <a:rPr lang="en-US" i="1" dirty="0">
                <a:ea typeface="+mn-lt"/>
                <a:cs typeface="+mn-lt"/>
              </a:rPr>
              <a:t>Fernandes et al., 2020</a:t>
            </a:r>
            <a:r>
              <a:rPr lang="en-US" dirty="0">
                <a:ea typeface="+mn-lt"/>
                <a:cs typeface="+mn-lt"/>
              </a:rPr>
              <a:t> – Gradient Boosted Trees (AUC ≈ 0.79).</a:t>
            </a:r>
            <a:endParaRPr lang="en-US" dirty="0"/>
          </a:p>
          <a:p>
            <a:r>
              <a:rPr lang="en-US" i="1" dirty="0">
                <a:ea typeface="+mn-lt"/>
                <a:cs typeface="+mn-lt"/>
              </a:rPr>
              <a:t>Wang et al., 2021</a:t>
            </a:r>
            <a:r>
              <a:rPr lang="en-US" dirty="0">
                <a:ea typeface="+mn-lt"/>
                <a:cs typeface="+mn-lt"/>
              </a:rPr>
              <a:t> – Feed-Forward Neural Network improved calibration (Brier score ↓ 20 %).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86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653AE3C-AC4F-907C-B473-B9A30D215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B54BB2-A20E-7775-F140-2D3E7168A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4070143" cy="183943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 b="0">
                <a:ea typeface="+mj-lt"/>
                <a:cs typeface="+mj-lt"/>
              </a:rPr>
              <a:t>Data Preprocessing &amp; Feature Engineering</a:t>
            </a:r>
            <a:endParaRPr lang="en-US" sz="3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EAB63-AA8E-8CF2-73DB-A0689F114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186" y="1010097"/>
            <a:ext cx="6141734" cy="531468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ea typeface="+mn-lt"/>
                <a:cs typeface="+mn-lt"/>
              </a:rPr>
              <a:t>Data cleaning:</a:t>
            </a:r>
            <a:endParaRPr lang="en-US" sz="1400" dirty="0">
              <a:ea typeface="+mn-lt"/>
              <a:cs typeface="+mn-lt"/>
            </a:endParaRPr>
          </a:p>
          <a:p>
            <a:pPr>
              <a:lnSpc>
                <a:spcPct val="110000"/>
              </a:lnSpc>
            </a:pPr>
            <a:r>
              <a:rPr lang="en-US" sz="1400" dirty="0">
                <a:ea typeface="+mn-lt"/>
                <a:cs typeface="+mn-lt"/>
              </a:rPr>
              <a:t>Remove invalid ages (</a:t>
            </a:r>
            <a:r>
              <a:rPr lang="en-US" sz="1400" dirty="0">
                <a:latin typeface="Consolas"/>
              </a:rPr>
              <a:t>Age &lt; 0</a:t>
            </a:r>
            <a:r>
              <a:rPr lang="en-US" sz="1400" dirty="0">
                <a:ea typeface="+mn-lt"/>
                <a:cs typeface="+mn-lt"/>
              </a:rPr>
              <a:t> or unrealistic).</a:t>
            </a:r>
            <a:endParaRPr lang="en-US" sz="1400"/>
          </a:p>
          <a:p>
            <a:pPr>
              <a:lnSpc>
                <a:spcPct val="110000"/>
              </a:lnSpc>
            </a:pPr>
            <a:r>
              <a:rPr lang="en-US" sz="1400" dirty="0">
                <a:ea typeface="+mn-lt"/>
                <a:cs typeface="+mn-lt"/>
              </a:rPr>
              <a:t>Convert dates (</a:t>
            </a:r>
            <a:r>
              <a:rPr lang="en-US" sz="1400" dirty="0" err="1">
                <a:latin typeface="Consolas"/>
              </a:rPr>
              <a:t>ScheduledDay</a:t>
            </a:r>
            <a:r>
              <a:rPr lang="en-US" sz="1400" dirty="0">
                <a:ea typeface="+mn-lt"/>
                <a:cs typeface="+mn-lt"/>
              </a:rPr>
              <a:t>, </a:t>
            </a:r>
            <a:r>
              <a:rPr lang="en-US" sz="1400" dirty="0" err="1">
                <a:latin typeface="Consolas"/>
              </a:rPr>
              <a:t>AppointmentDay</a:t>
            </a:r>
            <a:r>
              <a:rPr lang="en-US" sz="1400" dirty="0">
                <a:ea typeface="+mn-lt"/>
                <a:cs typeface="+mn-lt"/>
              </a:rPr>
              <a:t>) → extract useful features:</a:t>
            </a:r>
            <a:endParaRPr lang="en-US" sz="1400" dirty="0"/>
          </a:p>
          <a:p>
            <a:pPr marL="493395" lvl="1">
              <a:lnSpc>
                <a:spcPct val="110000"/>
              </a:lnSpc>
            </a:pPr>
            <a:r>
              <a:rPr lang="en-US" sz="1400" dirty="0" err="1">
                <a:latin typeface="Consolas"/>
              </a:rPr>
              <a:t>waiting_days</a:t>
            </a:r>
            <a:r>
              <a:rPr lang="en-US" sz="1400" dirty="0">
                <a:latin typeface="Consolas"/>
              </a:rPr>
              <a:t> = (</a:t>
            </a:r>
            <a:r>
              <a:rPr lang="en-US" sz="1400" dirty="0" err="1">
                <a:latin typeface="Consolas"/>
              </a:rPr>
              <a:t>AppointmentDay</a:t>
            </a:r>
            <a:r>
              <a:rPr lang="en-US" sz="1400" dirty="0">
                <a:latin typeface="Consolas"/>
              </a:rPr>
              <a:t> - </a:t>
            </a:r>
            <a:r>
              <a:rPr lang="en-US" sz="1400" dirty="0" err="1">
                <a:latin typeface="Consolas"/>
              </a:rPr>
              <a:t>ScheduledDay</a:t>
            </a:r>
            <a:r>
              <a:rPr lang="en-US" sz="1400" dirty="0">
                <a:latin typeface="Consolas"/>
              </a:rPr>
              <a:t>)</a:t>
            </a:r>
            <a:endParaRPr lang="en-US" sz="1400" dirty="0"/>
          </a:p>
          <a:p>
            <a:pPr marL="493395" lvl="1">
              <a:lnSpc>
                <a:spcPct val="110000"/>
              </a:lnSpc>
            </a:pPr>
            <a:r>
              <a:rPr lang="en-US" sz="1400" err="1">
                <a:latin typeface="Consolas"/>
              </a:rPr>
              <a:t>appointment_weekday</a:t>
            </a:r>
            <a:endParaRPr lang="en-US" sz="1400" err="1"/>
          </a:p>
          <a:p>
            <a:pPr marL="493395" lvl="1">
              <a:lnSpc>
                <a:spcPct val="110000"/>
              </a:lnSpc>
            </a:pPr>
            <a:r>
              <a:rPr lang="en-US" sz="1400" b="1" dirty="0">
                <a:ea typeface="+mn-lt"/>
                <a:cs typeface="+mn-lt"/>
              </a:rPr>
              <a:t>Encoding:</a:t>
            </a:r>
            <a:endParaRPr lang="en-US" sz="1400" dirty="0"/>
          </a:p>
          <a:p>
            <a:pPr>
              <a:lnSpc>
                <a:spcPct val="110000"/>
              </a:lnSpc>
            </a:pPr>
            <a:r>
              <a:rPr lang="en-US" sz="1400" dirty="0">
                <a:ea typeface="+mn-lt"/>
                <a:cs typeface="+mn-lt"/>
              </a:rPr>
              <a:t>Convert </a:t>
            </a:r>
            <a:r>
              <a:rPr lang="en-US" sz="1400" dirty="0">
                <a:latin typeface="Consolas"/>
              </a:rPr>
              <a:t>Gender</a:t>
            </a:r>
            <a:r>
              <a:rPr lang="en-US" sz="1400" dirty="0">
                <a:ea typeface="+mn-lt"/>
                <a:cs typeface="+mn-lt"/>
              </a:rPr>
              <a:t>, </a:t>
            </a:r>
            <a:r>
              <a:rPr lang="en-US" sz="1400" dirty="0" err="1">
                <a:latin typeface="Consolas"/>
              </a:rPr>
              <a:t>Neighbourhood</a:t>
            </a:r>
            <a:r>
              <a:rPr lang="en-US" sz="1400" dirty="0">
                <a:ea typeface="+mn-lt"/>
                <a:cs typeface="+mn-lt"/>
              </a:rPr>
              <a:t>, </a:t>
            </a:r>
            <a:r>
              <a:rPr lang="en-US" sz="1400" dirty="0">
                <a:latin typeface="Consolas"/>
              </a:rPr>
              <a:t>Scholarship</a:t>
            </a:r>
            <a:r>
              <a:rPr lang="en-US" sz="1400" dirty="0">
                <a:ea typeface="+mn-lt"/>
                <a:cs typeface="+mn-lt"/>
              </a:rPr>
              <a:t>, </a:t>
            </a:r>
            <a:r>
              <a:rPr lang="en-US" sz="1400" dirty="0" err="1">
                <a:latin typeface="Consolas"/>
              </a:rPr>
              <a:t>SMS_received</a:t>
            </a:r>
            <a:r>
              <a:rPr lang="en-US" sz="1400" dirty="0">
                <a:ea typeface="+mn-lt"/>
                <a:cs typeface="+mn-lt"/>
              </a:rPr>
              <a:t>, etc. into numeric form.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ea typeface="+mn-lt"/>
                <a:cs typeface="+mn-lt"/>
              </a:rPr>
              <a:t>Normalization:</a:t>
            </a:r>
            <a:endParaRPr lang="en-US" sz="1400" dirty="0"/>
          </a:p>
          <a:p>
            <a:pPr>
              <a:lnSpc>
                <a:spcPct val="110000"/>
              </a:lnSpc>
            </a:pPr>
            <a:r>
              <a:rPr lang="en-US" sz="1400" dirty="0">
                <a:ea typeface="+mn-lt"/>
                <a:cs typeface="+mn-lt"/>
              </a:rPr>
              <a:t>Scale continuous features (e.g., </a:t>
            </a:r>
            <a:r>
              <a:rPr lang="en-US" sz="1400" dirty="0">
                <a:latin typeface="Consolas"/>
              </a:rPr>
              <a:t>Age</a:t>
            </a:r>
            <a:r>
              <a:rPr lang="en-US" sz="1400" dirty="0">
                <a:ea typeface="+mn-lt"/>
                <a:cs typeface="+mn-lt"/>
              </a:rPr>
              <a:t>, </a:t>
            </a:r>
            <a:r>
              <a:rPr lang="en-US" sz="1400" dirty="0" err="1">
                <a:latin typeface="Consolas"/>
              </a:rPr>
              <a:t>waiting_days</a:t>
            </a:r>
            <a:r>
              <a:rPr lang="en-US" sz="1400" dirty="0">
                <a:ea typeface="+mn-lt"/>
                <a:cs typeface="+mn-lt"/>
              </a:rPr>
              <a:t>) to [0, 1].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ea typeface="+mn-lt"/>
                <a:cs typeface="+mn-lt"/>
              </a:rPr>
              <a:t>Target definition:</a:t>
            </a:r>
            <a:endParaRPr lang="en-US" sz="1400" dirty="0"/>
          </a:p>
          <a:p>
            <a:pPr>
              <a:lnSpc>
                <a:spcPct val="110000"/>
              </a:lnSpc>
            </a:pPr>
            <a:r>
              <a:rPr lang="en-US" sz="1400" dirty="0">
                <a:latin typeface="Consolas"/>
              </a:rPr>
              <a:t>No-show</a:t>
            </a:r>
            <a:r>
              <a:rPr lang="en-US" sz="1400" dirty="0">
                <a:ea typeface="+mn-lt"/>
                <a:cs typeface="+mn-lt"/>
              </a:rPr>
              <a:t>: Yes → 1 (did not come)</a:t>
            </a:r>
            <a:endParaRPr lang="en-US" sz="1400" dirty="0"/>
          </a:p>
          <a:p>
            <a:pPr>
              <a:lnSpc>
                <a:spcPct val="110000"/>
              </a:lnSpc>
            </a:pPr>
            <a:r>
              <a:rPr lang="en-US" sz="1400" dirty="0">
                <a:latin typeface="Consolas"/>
              </a:rPr>
              <a:t>No-show</a:t>
            </a:r>
            <a:r>
              <a:rPr lang="en-US" sz="1400" dirty="0">
                <a:ea typeface="+mn-lt"/>
                <a:cs typeface="+mn-lt"/>
              </a:rPr>
              <a:t>: No → 0 (came)</a:t>
            </a:r>
            <a:endParaRPr lang="en-US" sz="1400" dirty="0"/>
          </a:p>
          <a:p>
            <a:pPr>
              <a:lnSpc>
                <a:spcPct val="110000"/>
              </a:lnSpc>
            </a:pP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946162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700AA-7906-5382-F1F5-54B114561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ea typeface="+mj-lt"/>
                <a:cs typeface="+mj-lt"/>
              </a:rPr>
              <a:t>Potential Application in Real Systems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ADAF3-E825-CB0E-5B26-304888DF8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When doctor views upcoming appointments: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→ Display </a:t>
            </a:r>
            <a:r>
              <a:rPr lang="en-US" b="1" dirty="0">
                <a:ea typeface="+mn-lt"/>
                <a:cs typeface="+mn-lt"/>
              </a:rPr>
              <a:t>No-Show Risk: 82% (High)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→ Color indicators (Green–Yellow–Red).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Automation examples: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High-risk → extra reminder or require deposit.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Medium-risk → notify doctor or send confirmation request.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Business impact: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Reduces lost time and revenue.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Builds trust by improving schedule reliability.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808438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DashVTI</vt:lpstr>
      <vt:lpstr>Predicting Appointment No-Shows Using Deep Neural Networks</vt:lpstr>
      <vt:lpstr>Problem Formulation</vt:lpstr>
      <vt:lpstr>Dataset Overview</vt:lpstr>
      <vt:lpstr>Dataset Features </vt:lpstr>
      <vt:lpstr>Planned Data Splits</vt:lpstr>
      <vt:lpstr>Most Important Predictors </vt:lpstr>
      <vt:lpstr>Related Work (Quick Review)</vt:lpstr>
      <vt:lpstr>Data Preprocessing &amp; Feature Engineering</vt:lpstr>
      <vt:lpstr>Potential Application in Real Systems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84</cp:revision>
  <dcterms:created xsi:type="dcterms:W3CDTF">2025-10-24T06:36:47Z</dcterms:created>
  <dcterms:modified xsi:type="dcterms:W3CDTF">2025-10-26T13:59:11Z</dcterms:modified>
</cp:coreProperties>
</file>